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F6C3B-0676-7B5F-EEB2-340B21C20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6B57C2-36F0-9E64-35FD-633ABA193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2E0BB-7C70-FEB0-4BD4-0CE5E4982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04E46-A7A5-45B4-8F44-7DD51162B3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49D7E-0742-CAD9-239B-EC5A6E7DF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00361-070E-4270-1A05-631B7FFF5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DE311-53EF-4C4D-8FF5-225BDB17D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886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01872-5F1C-E68C-1BA0-C8D7A908B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5FFBA-D6F9-3359-E5CF-4D272E588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99D8E-0F74-7B9B-D06E-495226F10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04E46-A7A5-45B4-8F44-7DD51162B3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DF8A8-FC72-802C-2033-BB5BB1E5B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29F4B-F55C-1943-D1DB-DEC3753AC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DE311-53EF-4C4D-8FF5-225BDB17D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86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B6A2E-3236-4699-F7FB-C2C220405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AF8D5-8630-D8E2-CC4E-7C4F7042B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41CBE-CBFE-AB96-DA00-C2A79EDF6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04E46-A7A5-45B4-8F44-7DD51162B3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24413-6A89-D973-55AE-8443D3D0C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157FB-1C3D-0BB5-ACAE-E815B819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DE311-53EF-4C4D-8FF5-225BDB17D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354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10AEA-29DC-685E-6742-68CA54DA7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E1789-386C-E8CD-0834-50767193F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2BAB8-258C-53EA-AB83-F3E4652EC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960F9-20DD-E8BF-7A3A-02029BA1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04E46-A7A5-45B4-8F44-7DD51162B3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CD8E5-4373-0B35-192B-E24FBA266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9EC80-8171-7143-4009-FA145E914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DE311-53EF-4C4D-8FF5-225BDB17D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864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59C7B-FC5F-911E-F731-88663060C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486A1-75D4-E954-EC72-7F7747D64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28615-2660-EFEA-BBF8-2D941D784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CF091A-FB6C-F074-EBAC-C0AA22CFD1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AF9B67-A45B-0B6D-D233-3FC024ADF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8693D4-44D4-D6A5-7A21-EBA69F063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04E46-A7A5-45B4-8F44-7DD51162B3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BDE7D7-9189-A374-5A01-2723B892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388C8-CCDA-3DF0-7DB8-BAFD320F3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DE311-53EF-4C4D-8FF5-225BDB17D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21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C58FE-CF19-5A71-94D0-5A90E2FB9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564A2-82B0-3F6B-7FBA-94DFDBB39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04E46-A7A5-45B4-8F44-7DD51162B3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B3CE30-8B75-6EF7-D110-0328E5B31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A310E-F90D-B5C4-4B12-00474BD9D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DE311-53EF-4C4D-8FF5-225BDB17D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744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AC1BB5-CB47-C2AB-916C-69EB60850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04E46-A7A5-45B4-8F44-7DD51162B3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D57C5E-B815-5C98-C67D-41892758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07873-36CF-8F0C-0057-F90442053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DE311-53EF-4C4D-8FF5-225BDB17D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086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5946D-59F4-02BC-3665-9A9E23933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AB993-6BF8-B954-25F6-31C10D5CB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67B4E3-1CF4-A94D-B5E8-E906A1B2B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F4510-2FBC-9226-0B0C-CD598CD23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04E46-A7A5-45B4-8F44-7DD51162B3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77FB5-9EDD-8D69-2A55-DD33F4C9D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8DF87-FA5F-77D7-393F-ECC7FBFB0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DE311-53EF-4C4D-8FF5-225BDB17D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720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DC789-A906-72B7-01FA-D80E71D4A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910F77-FABA-4748-9312-480C7003D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89958-996B-2AB3-C5D6-E23255CC9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63AD6-C9B4-5D1A-38AF-AE6FD1F73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04E46-A7A5-45B4-8F44-7DD51162B3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9DAB5-FC98-4C2D-E177-D1E67E30E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794F5-E2FB-EA84-0945-978F921CE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DE311-53EF-4C4D-8FF5-225BDB17D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005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B651A-D20C-A2A2-4032-AA799DABB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031031-763A-DDBB-29CC-131A5391C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3F9AF-0CE9-383B-B073-713367E1D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04E46-A7A5-45B4-8F44-7DD51162B3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848BA-488E-DCD3-B610-E6D2CCE9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7F9C7-2E8E-AD22-9636-55F8A559B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DE311-53EF-4C4D-8FF5-225BDB17D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685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0BF952-7F42-99C2-168D-0A1D90412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10E6B-BA12-0937-D785-4BCACECD4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69CE4-B773-8849-F694-CD5A6276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04E46-A7A5-45B4-8F44-7DD51162B3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1F37F-19B0-29FE-5D21-D75D9B000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0A638-A6F9-3763-65AB-15E614D8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DE311-53EF-4C4D-8FF5-225BDB17D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773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5FC6D4-8A63-0259-177B-0403F753F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E33CC-ED69-51CB-7983-BA4F38708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C741B-9235-CA1F-4DB5-A3BC3448A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704E46-A7A5-45B4-8F44-7DD51162B3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31E21-3238-3ED0-BF7B-63EDC2265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BF793-C865-ABA2-7BD1-F622FA6A5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DE311-53EF-4C4D-8FF5-225BDB17D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096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/>
        </p:nvSpPr>
        <p:spPr>
          <a:xfrm>
            <a:off x="746760" y="1581944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/>
        </p:nvSpPr>
        <p:spPr>
          <a:xfrm>
            <a:off x="929640" y="377586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0415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5;p2">
            <a:extLst>
              <a:ext uri="{FF2B5EF4-FFF2-40B4-BE49-F238E27FC236}">
                <a16:creationId xmlns:a16="http://schemas.microsoft.com/office/drawing/2014/main" id="{1F6909D5-48B4-C329-847D-679E3C1F503F}"/>
              </a:ext>
            </a:extLst>
          </p:cNvPr>
          <p:cNvSpPr txBox="1"/>
          <p:nvPr/>
        </p:nvSpPr>
        <p:spPr>
          <a:xfrm>
            <a:off x="903952" y="1943935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table">
            <a:extLst>
              <a:ext uri="{FF2B5EF4-FFF2-40B4-BE49-F238E27FC236}">
                <a16:creationId xmlns:a16="http://schemas.microsoft.com/office/drawing/2014/main" id="{2A5AAF65-07A3-CAB4-36A0-6B63B95A0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67" y="3051787"/>
            <a:ext cx="10751065" cy="2479932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007795" y="2230020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dirty="0"/>
              <a:t>Domain of  Project – Education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007793" y="1321261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dirty="0"/>
              <a:t>Project Tile – </a:t>
            </a:r>
            <a:r>
              <a:rPr lang="en-IN" sz="2400" dirty="0"/>
              <a:t>Agentic AI for Personalized Course Pathways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F63477-1A6A-007E-5587-864EBE26345C}"/>
              </a:ext>
            </a:extLst>
          </p:cNvPr>
          <p:cNvSpPr txBox="1"/>
          <p:nvPr/>
        </p:nvSpPr>
        <p:spPr>
          <a:xfrm>
            <a:off x="1007793" y="4648201"/>
            <a:ext cx="183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Sourashis Dey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F5F895-CB8A-CD31-CEF2-88C4AAC1D2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104" y="4249606"/>
            <a:ext cx="885963" cy="11492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5C0364C-8483-53E5-7CE0-E7C2307F6210}"/>
              </a:ext>
            </a:extLst>
          </p:cNvPr>
          <p:cNvSpPr txBox="1"/>
          <p:nvPr/>
        </p:nvSpPr>
        <p:spPr>
          <a:xfrm>
            <a:off x="5798381" y="4639589"/>
            <a:ext cx="2925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sourashisdey888@gmail.com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5F5D15-1E1F-B0CD-B069-9DE2EEC5B2D1}"/>
              </a:ext>
            </a:extLst>
          </p:cNvPr>
          <p:cNvSpPr txBox="1"/>
          <p:nvPr/>
        </p:nvSpPr>
        <p:spPr>
          <a:xfrm>
            <a:off x="9420364" y="4639445"/>
            <a:ext cx="1354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8276087320</a:t>
            </a:r>
          </a:p>
        </p:txBody>
      </p:sp>
    </p:spTree>
    <p:extLst>
      <p:ext uri="{BB962C8B-B14F-4D97-AF65-F5344CB8AC3E}">
        <p14:creationId xmlns:p14="http://schemas.microsoft.com/office/powerpoint/2010/main" val="1657492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1A7690-7CF8-65B1-665D-2A3F0C9211B1}"/>
              </a:ext>
            </a:extLst>
          </p:cNvPr>
          <p:cNvSpPr txBox="1"/>
          <p:nvPr/>
        </p:nvSpPr>
        <p:spPr>
          <a:xfrm>
            <a:off x="482600" y="431799"/>
            <a:ext cx="1120986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Problem Statement: </a:t>
            </a:r>
          </a:p>
          <a:p>
            <a:endParaRPr lang="en-IN" sz="2400" dirty="0"/>
          </a:p>
          <a:p>
            <a:r>
              <a:rPr lang="en-IN" sz="2400" dirty="0"/>
              <a:t>Agentic AI for Personalized Course Pathways. </a:t>
            </a:r>
          </a:p>
          <a:p>
            <a:endParaRPr lang="en-IN" sz="2400" dirty="0"/>
          </a:p>
          <a:p>
            <a:r>
              <a:rPr lang="en-IN" sz="2400" dirty="0"/>
              <a:t>The Challenge - Students often struggle to identify the right learning path that aligns with their interests and long-term goals due to the overwhelming number of online courses and a lack of personalized guidance. </a:t>
            </a:r>
            <a:r>
              <a:rPr lang="en-IN" sz="2400" dirty="0" err="1"/>
              <a:t>LearnMate</a:t>
            </a:r>
            <a:r>
              <a:rPr lang="en-IN" sz="2400" dirty="0"/>
              <a:t> aims to solve this by acting as an Agentic AI coach that interacts with students, understands their interests (like Frontend Development, Cybersecurity, UI/UX Design, etc.), assesses their current skill level, and dynamically builds a personalized course roadmap that adapts over time based on progress and preferences. </a:t>
            </a:r>
          </a:p>
        </p:txBody>
      </p:sp>
    </p:spTree>
    <p:extLst>
      <p:ext uri="{BB962C8B-B14F-4D97-AF65-F5344CB8AC3E}">
        <p14:creationId xmlns:p14="http://schemas.microsoft.com/office/powerpoint/2010/main" val="1713412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4CDEAD-68D1-1038-C5B2-D5349FE4542F}"/>
              </a:ext>
            </a:extLst>
          </p:cNvPr>
          <p:cNvSpPr txBox="1"/>
          <p:nvPr/>
        </p:nvSpPr>
        <p:spPr>
          <a:xfrm>
            <a:off x="364066" y="364067"/>
            <a:ext cx="114300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Technology Used</a:t>
            </a:r>
          </a:p>
          <a:p>
            <a:endParaRPr lang="en-IN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IBM Cloud Lite Services</a:t>
            </a:r>
            <a:r>
              <a:rPr lang="en-IN" sz="2400" dirty="0"/>
              <a:t> – for deploying and running the application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IBM Granite LLM</a:t>
            </a:r>
            <a:r>
              <a:rPr lang="en-IN" sz="2400" dirty="0"/>
              <a:t> – for generating AI-based responses and reasoning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 err="1"/>
              <a:t>Langflow</a:t>
            </a:r>
            <a:r>
              <a:rPr lang="en-IN" sz="2400" dirty="0"/>
              <a:t> – for building and managing the multi-agent workflow visually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Python</a:t>
            </a:r>
            <a:r>
              <a:rPr lang="en-IN" sz="2400" dirty="0"/>
              <a:t> – for backend logic and data handling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Prompt Engineering</a:t>
            </a:r>
            <a:r>
              <a:rPr lang="en-IN" sz="2400" dirty="0"/>
              <a:t> – to structure and control AI outputs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RAG-based Agent Design (conceptual use)</a:t>
            </a:r>
            <a:r>
              <a:rPr lang="en-IN" sz="2400" dirty="0"/>
              <a:t> – for structured information flow between agents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9147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525B41-C4DC-D180-CB90-D5D43FDFF1F6}"/>
              </a:ext>
            </a:extLst>
          </p:cNvPr>
          <p:cNvSpPr txBox="1"/>
          <p:nvPr/>
        </p:nvSpPr>
        <p:spPr>
          <a:xfrm>
            <a:off x="355599" y="347132"/>
            <a:ext cx="11463868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Proposed Solution:</a:t>
            </a:r>
          </a:p>
          <a:p>
            <a:r>
              <a:rPr lang="en-IN" sz="2400" dirty="0"/>
              <a:t>We propose an </a:t>
            </a:r>
            <a:r>
              <a:rPr lang="en-IN" sz="2400" b="1" dirty="0"/>
              <a:t>AI-powered Course Pathway Assistant</a:t>
            </a:r>
            <a:r>
              <a:rPr lang="en-IN" sz="2400" dirty="0"/>
              <a:t> that helps students plan their learning and career journey in a structured and personalized way.</a:t>
            </a:r>
          </a:p>
          <a:p>
            <a:r>
              <a:rPr lang="en-IN" sz="2400" dirty="0"/>
              <a:t>The system uses a </a:t>
            </a:r>
            <a:r>
              <a:rPr lang="en-IN" sz="2400" b="1" dirty="0"/>
              <a:t>multi-agent AI architecture</a:t>
            </a:r>
            <a:r>
              <a:rPr lang="en-IN" sz="2400" dirty="0"/>
              <a:t> built using </a:t>
            </a:r>
            <a:r>
              <a:rPr lang="en-IN" sz="2400" dirty="0" err="1"/>
              <a:t>Langflow</a:t>
            </a:r>
            <a:r>
              <a:rPr lang="en-IN" sz="2400" dirty="0"/>
              <a:t> and IBM Granite, where each agent performs a specific task:</a:t>
            </a:r>
          </a:p>
          <a:p>
            <a:r>
              <a:rPr lang="en-IN" sz="2400" dirty="0"/>
              <a:t>The </a:t>
            </a:r>
            <a:r>
              <a:rPr lang="en-IN" sz="2400" b="1" dirty="0"/>
              <a:t>Student Analysis Agent</a:t>
            </a:r>
            <a:r>
              <a:rPr lang="en-IN" sz="2400" dirty="0"/>
              <a:t> understands the user’s profile (skills, interests, and goals). </a:t>
            </a:r>
          </a:p>
          <a:p>
            <a:r>
              <a:rPr lang="en-IN" sz="2400" dirty="0"/>
              <a:t>The </a:t>
            </a:r>
            <a:r>
              <a:rPr lang="en-IN" sz="2400" b="1" dirty="0"/>
              <a:t>Learning Path Agent</a:t>
            </a:r>
            <a:r>
              <a:rPr lang="en-IN" sz="2400" dirty="0"/>
              <a:t> generates a structured 6-month roadmap with step-by-step learning topics. </a:t>
            </a:r>
          </a:p>
          <a:p>
            <a:r>
              <a:rPr lang="en-IN" sz="2400" dirty="0"/>
              <a:t>The </a:t>
            </a:r>
            <a:r>
              <a:rPr lang="en-IN" sz="2400" b="1" dirty="0"/>
              <a:t>Resource Recommendation Agent</a:t>
            </a:r>
            <a:r>
              <a:rPr lang="en-IN" sz="2400" dirty="0"/>
              <a:t> suggests relevant certifications, platforms, tools, and practice resources. </a:t>
            </a:r>
          </a:p>
          <a:p>
            <a:r>
              <a:rPr lang="en-IN" sz="2400" dirty="0"/>
              <a:t>The </a:t>
            </a:r>
            <a:r>
              <a:rPr lang="en-IN" sz="2400" b="1" dirty="0"/>
              <a:t>Career Guidance Agent</a:t>
            </a:r>
            <a:r>
              <a:rPr lang="en-IN" sz="2400" dirty="0"/>
              <a:t> provides internship preparation steps, project ideas, and career direction. </a:t>
            </a:r>
          </a:p>
          <a:p>
            <a:r>
              <a:rPr lang="en-IN" sz="2400" dirty="0"/>
              <a:t>All agents work together in a pipeline to convert raw student input into a </a:t>
            </a:r>
            <a:r>
              <a:rPr lang="en-IN" sz="2400" b="1" dirty="0"/>
              <a:t>complete personalized learning and career plan</a:t>
            </a:r>
            <a:r>
              <a:rPr lang="en-IN" sz="2400" dirty="0"/>
              <a:t>.</a:t>
            </a:r>
          </a:p>
          <a:p>
            <a:r>
              <a:rPr lang="en-IN" sz="2400" dirty="0"/>
              <a:t>The solution reduces confusion, saves time, and provides </a:t>
            </a:r>
            <a:r>
              <a:rPr lang="en-IN" sz="2400" b="1" dirty="0"/>
              <a:t>clear, structured guidance for students preparing for internships and skill development</a:t>
            </a:r>
            <a:r>
              <a:rPr lang="en-IN" sz="24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5506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DF6946-B668-2C5C-6264-6C33EEAF0B13}"/>
              </a:ext>
            </a:extLst>
          </p:cNvPr>
          <p:cNvSpPr txBox="1"/>
          <p:nvPr/>
        </p:nvSpPr>
        <p:spPr>
          <a:xfrm>
            <a:off x="347133" y="364066"/>
            <a:ext cx="11430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 err="1"/>
              <a:t>Langflow</a:t>
            </a:r>
            <a:r>
              <a:rPr lang="en-IN" sz="2400" b="1" u="sng" dirty="0"/>
              <a:t> Components Used:</a:t>
            </a:r>
          </a:p>
          <a:p>
            <a:endParaRPr lang="en-IN" sz="2400" b="1" dirty="0"/>
          </a:p>
          <a:p>
            <a:r>
              <a:rPr lang="en-IN" sz="2400" b="1" dirty="0"/>
              <a:t>Input Component</a:t>
            </a:r>
            <a:br>
              <a:rPr lang="en-IN" sz="2400" dirty="0"/>
            </a:br>
            <a:r>
              <a:rPr lang="en-IN" sz="2400" dirty="0"/>
              <a:t>Used to take student profile data as text input. </a:t>
            </a:r>
          </a:p>
          <a:p>
            <a:r>
              <a:rPr lang="en-IN" sz="2400" b="1" dirty="0"/>
              <a:t>Prompt Template Component</a:t>
            </a:r>
            <a:br>
              <a:rPr lang="en-IN" sz="2400" dirty="0"/>
            </a:br>
            <a:r>
              <a:rPr lang="en-IN" sz="2400" dirty="0"/>
              <a:t>Used to structure instructions for each AI agent (Learning, Resource, Career). </a:t>
            </a:r>
          </a:p>
          <a:p>
            <a:r>
              <a:rPr lang="en-IN" sz="2400" b="1" dirty="0"/>
              <a:t>LLM Component (IBM Granite Model)</a:t>
            </a:r>
            <a:br>
              <a:rPr lang="en-IN" sz="2400" dirty="0"/>
            </a:br>
            <a:r>
              <a:rPr lang="en-IN" sz="2400" dirty="0"/>
              <a:t>Core AI engine used to generate responses for roadmap, resources, and career guidance. </a:t>
            </a:r>
          </a:p>
          <a:p>
            <a:r>
              <a:rPr lang="en-IN" sz="2400" b="1" dirty="0"/>
              <a:t>Text Splitter / Parser (if used)</a:t>
            </a:r>
            <a:br>
              <a:rPr lang="en-IN" sz="2400" dirty="0"/>
            </a:br>
            <a:r>
              <a:rPr lang="en-IN" sz="2400" dirty="0"/>
              <a:t>Helps structure or clean large outputs before passing between agents. </a:t>
            </a:r>
          </a:p>
          <a:p>
            <a:r>
              <a:rPr lang="en-IN" sz="2400" b="1" dirty="0"/>
              <a:t>Chain / Flow Connector</a:t>
            </a:r>
            <a:br>
              <a:rPr lang="en-IN" sz="2400" dirty="0"/>
            </a:br>
            <a:r>
              <a:rPr lang="en-IN" sz="2400" dirty="0"/>
              <a:t>Used to connect multiple agents in sequence (Student → Learning → Resources → Career). </a:t>
            </a:r>
          </a:p>
          <a:p>
            <a:r>
              <a:rPr lang="en-IN" sz="2400" b="1" dirty="0"/>
              <a:t>Output Component</a:t>
            </a:r>
            <a:br>
              <a:rPr lang="en-IN" sz="2400" dirty="0"/>
            </a:br>
            <a:r>
              <a:rPr lang="en-IN" sz="2400" dirty="0"/>
              <a:t>Displays final structured response to the user.</a:t>
            </a:r>
          </a:p>
        </p:txBody>
      </p:sp>
    </p:spTree>
    <p:extLst>
      <p:ext uri="{BB962C8B-B14F-4D97-AF65-F5344CB8AC3E}">
        <p14:creationId xmlns:p14="http://schemas.microsoft.com/office/powerpoint/2010/main" val="3952532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7B466A-C263-9775-B983-526E9C4B2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32" y="560535"/>
            <a:ext cx="11463867" cy="62974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F8E7BB-A59E-249C-C3AD-B58D1BE36DEC}"/>
              </a:ext>
            </a:extLst>
          </p:cNvPr>
          <p:cNvSpPr txBox="1"/>
          <p:nvPr/>
        </p:nvSpPr>
        <p:spPr>
          <a:xfrm>
            <a:off x="364068" y="93133"/>
            <a:ext cx="2167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 err="1"/>
              <a:t>Langflow</a:t>
            </a:r>
            <a:r>
              <a:rPr lang="en-IN" b="1" i="1" dirty="0"/>
              <a:t> Workflow</a:t>
            </a:r>
          </a:p>
        </p:txBody>
      </p:sp>
    </p:spTree>
    <p:extLst>
      <p:ext uri="{BB962C8B-B14F-4D97-AF65-F5344CB8AC3E}">
        <p14:creationId xmlns:p14="http://schemas.microsoft.com/office/powerpoint/2010/main" val="1734042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6BCB06-2393-59B6-2E81-1C432119187A}"/>
              </a:ext>
            </a:extLst>
          </p:cNvPr>
          <p:cNvSpPr txBox="1"/>
          <p:nvPr/>
        </p:nvSpPr>
        <p:spPr>
          <a:xfrm>
            <a:off x="372533" y="397932"/>
            <a:ext cx="11430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 u="sng" dirty="0"/>
              <a:t>Role of Agentic AI in the Solution</a:t>
            </a:r>
          </a:p>
          <a:p>
            <a:r>
              <a:rPr lang="en-IN" sz="2000" dirty="0"/>
              <a:t>Agentic AI plays a central role in transforming the system from a simple chatbot into an </a:t>
            </a:r>
            <a:r>
              <a:rPr lang="en-IN" sz="2000" b="1" dirty="0"/>
              <a:t>autonomous multi-step decision-making assistant</a:t>
            </a:r>
            <a:r>
              <a:rPr lang="en-IN" sz="2000" dirty="0"/>
              <a:t>.</a:t>
            </a:r>
          </a:p>
          <a:p>
            <a:r>
              <a:rPr lang="en-IN" sz="2000" dirty="0"/>
              <a:t>It enables the system to break down the problem into smaller tasks and assign them to specialized agents such as:</a:t>
            </a:r>
          </a:p>
          <a:p>
            <a:r>
              <a:rPr lang="en-IN" sz="2000" dirty="0"/>
              <a:t>Student Analysis Agent </a:t>
            </a:r>
          </a:p>
          <a:p>
            <a:r>
              <a:rPr lang="en-IN" sz="2000" dirty="0"/>
              <a:t>Learning Path Agent </a:t>
            </a:r>
          </a:p>
          <a:p>
            <a:r>
              <a:rPr lang="en-IN" sz="2000" dirty="0"/>
              <a:t>Resource Recommendation Agent </a:t>
            </a:r>
          </a:p>
          <a:p>
            <a:r>
              <a:rPr lang="en-IN" sz="2000" dirty="0"/>
              <a:t>Career Guidance Agent </a:t>
            </a:r>
          </a:p>
          <a:p>
            <a:r>
              <a:rPr lang="en-IN" sz="2000" dirty="0"/>
              <a:t>Each agent operates independently with a specific goal, but they collectively work together through a coordinated workflow.</a:t>
            </a:r>
          </a:p>
          <a:p>
            <a:r>
              <a:rPr lang="en-IN" sz="2000" dirty="0"/>
              <a:t>Agentic AI allows the system to:</a:t>
            </a:r>
          </a:p>
          <a:p>
            <a:r>
              <a:rPr lang="en-IN" sz="2000" dirty="0"/>
              <a:t>Understand user input contextually </a:t>
            </a:r>
          </a:p>
          <a:p>
            <a:r>
              <a:rPr lang="en-IN" sz="2000" dirty="0"/>
              <a:t>Plan and execute multi-step reasoning </a:t>
            </a:r>
          </a:p>
          <a:p>
            <a:r>
              <a:rPr lang="en-IN" sz="2000" dirty="0"/>
              <a:t>Generate structured and goal-oriented outputs </a:t>
            </a:r>
          </a:p>
          <a:p>
            <a:r>
              <a:rPr lang="en-IN" sz="2000" dirty="0"/>
              <a:t>Improve accuracy by dividing responsibilities across agents </a:t>
            </a:r>
          </a:p>
          <a:p>
            <a:r>
              <a:rPr lang="en-IN" sz="2000" dirty="0"/>
              <a:t>By using IBM Granite as the underlying LLM and </a:t>
            </a:r>
            <a:r>
              <a:rPr lang="en-IN" sz="2000" dirty="0" err="1"/>
              <a:t>Langflow</a:t>
            </a:r>
            <a:r>
              <a:rPr lang="en-IN" sz="2000" dirty="0"/>
              <a:t> for orchestration, the system behaves like an intelligent assistant that can </a:t>
            </a:r>
            <a:r>
              <a:rPr lang="en-IN" sz="2000" b="1" dirty="0"/>
              <a:t>think, plan, and respond in a structured pipeline instead of a single static response</a:t>
            </a:r>
            <a:r>
              <a:rPr lang="en-IN" sz="2000" dirty="0"/>
              <a:t>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62213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B8F56D-8CF6-3B50-57E2-9F849A76483E}"/>
              </a:ext>
            </a:extLst>
          </p:cNvPr>
          <p:cNvSpPr txBox="1"/>
          <p:nvPr/>
        </p:nvSpPr>
        <p:spPr>
          <a:xfrm>
            <a:off x="338667" y="338667"/>
            <a:ext cx="114300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 u="sng" dirty="0"/>
              <a:t>Novelty &amp; Uniqueness</a:t>
            </a:r>
          </a:p>
          <a:p>
            <a:r>
              <a:rPr lang="en-IN" sz="2000" dirty="0"/>
              <a:t>The proposed system stands out due to its </a:t>
            </a:r>
            <a:r>
              <a:rPr lang="en-IN" sz="2000" b="1" dirty="0"/>
              <a:t>multi-agent AI architecture</a:t>
            </a:r>
            <a:r>
              <a:rPr lang="en-IN" sz="2000" dirty="0"/>
              <a:t> that goes beyond traditional single-response chatbots.</a:t>
            </a:r>
          </a:p>
          <a:p>
            <a:r>
              <a:rPr lang="en-IN" sz="2000" b="1" dirty="0"/>
              <a:t>Key Novel Aspects:</a:t>
            </a:r>
          </a:p>
          <a:p>
            <a:r>
              <a:rPr lang="en-IN" sz="2000" b="1" dirty="0"/>
              <a:t>Agentic AI-based design</a:t>
            </a:r>
            <a:br>
              <a:rPr lang="en-IN" sz="2000" dirty="0"/>
            </a:br>
            <a:r>
              <a:rPr lang="en-IN" sz="2000" dirty="0"/>
              <a:t>The system decomposes the problem into specialized agents (Student Analysis, Learning Path, Resource, and Career), enabling structured and goal-oriented reasoning. </a:t>
            </a:r>
          </a:p>
          <a:p>
            <a:r>
              <a:rPr lang="en-IN" sz="2000" b="1" dirty="0"/>
              <a:t>End-to-end personalized roadmap generation</a:t>
            </a:r>
            <a:br>
              <a:rPr lang="en-IN" sz="2000" dirty="0"/>
            </a:br>
            <a:r>
              <a:rPr lang="en-IN" sz="2000" dirty="0"/>
              <a:t>Unlike generic recommendation systems, it generates a complete 6-month learning + career plan tailored to the student’s profile. </a:t>
            </a:r>
          </a:p>
          <a:p>
            <a:r>
              <a:rPr lang="en-IN" sz="2000" b="1" dirty="0"/>
              <a:t>Modular and scalable architecture</a:t>
            </a:r>
            <a:br>
              <a:rPr lang="en-IN" sz="2000" dirty="0"/>
            </a:br>
            <a:r>
              <a:rPr lang="en-IN" sz="2000" dirty="0"/>
              <a:t>Each agent works independently, making the system easy to extend, modify, or integrate with new domains. </a:t>
            </a:r>
          </a:p>
          <a:p>
            <a:r>
              <a:rPr lang="en-IN" sz="2000" b="1" dirty="0"/>
              <a:t>Controlled and structured LLM output using IBM Granite + </a:t>
            </a:r>
            <a:r>
              <a:rPr lang="en-IN" sz="2000" b="1" dirty="0" err="1"/>
              <a:t>Langflow</a:t>
            </a:r>
            <a:br>
              <a:rPr lang="en-IN" sz="2000" dirty="0"/>
            </a:br>
            <a:r>
              <a:rPr lang="en-IN" sz="2000" dirty="0"/>
              <a:t>Ensures consistent formatting, reduced hallucination, and reliable responses. </a:t>
            </a:r>
          </a:p>
          <a:p>
            <a:r>
              <a:rPr lang="en-IN" sz="2000" b="1" dirty="0"/>
              <a:t>Integration of learning, resources, and career guidance in one system</a:t>
            </a:r>
            <a:br>
              <a:rPr lang="en-IN" sz="2000" dirty="0"/>
            </a:br>
            <a:r>
              <a:rPr lang="en-IN" sz="2000" dirty="0"/>
              <a:t>Most systems handle only one part (courses OR jobs), but this combines all three in a single pipeline.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64497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488710" y="732496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3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488710" y="1465479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1850" dirty="0">
                <a:latin typeface="Times New Roman"/>
                <a:ea typeface="Times New Roman"/>
                <a:cs typeface="Times New Roman"/>
                <a:sym typeface="Times New Roman"/>
              </a:rPr>
              <a:t>https://github.com/Skey9147/course-pathway-agent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488710" y="3671983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488710" y="4707231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488710" y="5742480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42679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F4B08E-E3A9-A078-A5F1-E9CFB4544A03}"/>
              </a:ext>
            </a:extLst>
          </p:cNvPr>
          <p:cNvSpPr txBox="1"/>
          <p:nvPr/>
        </p:nvSpPr>
        <p:spPr>
          <a:xfrm>
            <a:off x="389467" y="364067"/>
            <a:ext cx="1141306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Future Scope</a:t>
            </a:r>
          </a:p>
          <a:p>
            <a:r>
              <a:rPr lang="en-IN" dirty="0"/>
              <a:t>The proposed system can be further enhanced to improve scalability, intelligence, and real-world applicability.</a:t>
            </a:r>
          </a:p>
          <a:p>
            <a:r>
              <a:rPr lang="en-IN" b="1" dirty="0"/>
              <a:t>Key Future Enhancements:</a:t>
            </a:r>
          </a:p>
          <a:p>
            <a:r>
              <a:rPr lang="en-IN" b="1" dirty="0"/>
              <a:t>Personalized Adaptive Learning</a:t>
            </a:r>
            <a:br>
              <a:rPr lang="en-IN" dirty="0"/>
            </a:br>
            <a:r>
              <a:rPr lang="en-IN" dirty="0"/>
              <a:t>The system can dynamically update learning paths based on user progress and performance tracking. </a:t>
            </a:r>
          </a:p>
          <a:p>
            <a:r>
              <a:rPr lang="en-IN" b="1" dirty="0"/>
              <a:t>Integration with Real-Time Job Market Data</a:t>
            </a:r>
            <a:br>
              <a:rPr lang="en-IN" dirty="0"/>
            </a:br>
            <a:r>
              <a:rPr lang="en-IN" dirty="0"/>
              <a:t>Career recommendations can be improved using live job postings and industry demand trends. </a:t>
            </a:r>
          </a:p>
          <a:p>
            <a:r>
              <a:rPr lang="en-IN" b="1" dirty="0"/>
              <a:t>Multilingual Support</a:t>
            </a:r>
            <a:br>
              <a:rPr lang="en-IN" dirty="0"/>
            </a:br>
            <a:r>
              <a:rPr lang="en-IN" dirty="0"/>
              <a:t>Enabling regional language support to make the system accessible to a wider student base. </a:t>
            </a:r>
          </a:p>
          <a:p>
            <a:r>
              <a:rPr lang="en-IN" b="1" dirty="0"/>
              <a:t>Voice-Based Interaction</a:t>
            </a:r>
            <a:br>
              <a:rPr lang="en-IN" dirty="0"/>
            </a:br>
            <a:r>
              <a:rPr lang="en-IN" dirty="0"/>
              <a:t>Adding speech input/output to make the system more user-friendly and accessible. </a:t>
            </a:r>
          </a:p>
          <a:p>
            <a:r>
              <a:rPr lang="en-IN" b="1" dirty="0"/>
              <a:t>Integration with LMS Platforms</a:t>
            </a:r>
            <a:br>
              <a:rPr lang="en-IN" dirty="0"/>
            </a:br>
            <a:r>
              <a:rPr lang="en-IN" dirty="0"/>
              <a:t>The system can be connected with platforms like Moodle or Google Classroom for continuous learning support. </a:t>
            </a:r>
          </a:p>
          <a:p>
            <a:r>
              <a:rPr lang="en-IN" b="1" dirty="0"/>
              <a:t>Advanced RAG Implementation</a:t>
            </a:r>
            <a:br>
              <a:rPr lang="en-IN" dirty="0"/>
            </a:br>
            <a:r>
              <a:rPr lang="en-IN" dirty="0"/>
              <a:t>Using retrieval-augmented generation with verified educational databases for more accurate responses. </a:t>
            </a:r>
          </a:p>
          <a:p>
            <a:r>
              <a:rPr lang="en-IN" b="1" dirty="0"/>
              <a:t>Mobile Application Deployment</a:t>
            </a:r>
            <a:br>
              <a:rPr lang="en-IN" dirty="0"/>
            </a:br>
            <a:r>
              <a:rPr lang="en-IN" dirty="0"/>
              <a:t>Extending the system into a mobile app for anytime, anywhere access.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8948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10;p20">
            <a:extLst>
              <a:ext uri="{FF2B5EF4-FFF2-40B4-BE49-F238E27FC236}">
                <a16:creationId xmlns:a16="http://schemas.microsoft.com/office/drawing/2014/main" id="{F068C0EE-1C22-D2B0-90D5-E0CC4C4B604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0543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951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Sourashis Dey</dc:creator>
  <cp:lastModifiedBy>Sourashis Dey</cp:lastModifiedBy>
  <cp:revision>3</cp:revision>
  <dcterms:created xsi:type="dcterms:W3CDTF">2026-06-05T16:27:22Z</dcterms:created>
  <dcterms:modified xsi:type="dcterms:W3CDTF">2026-06-05T17:23:32Z</dcterms:modified>
</cp:coreProperties>
</file>